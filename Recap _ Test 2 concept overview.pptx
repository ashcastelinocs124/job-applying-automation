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02cf22d47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102cf22d479_1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02cf22d479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102cf22d479_1_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02cf22d479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102cf22d479_1_1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02cf22d479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102cf22d479_1_2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02cf22d479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102cf22d479_1_2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02cf22d479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102cf22d479_1_3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02cf22d479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102cf22d479_1_3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02cf22d47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02cf22d4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02cf22d479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102cf22d479_1_4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1b1879c9d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1b1879c9d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cdb4ec43d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cdb4ec43d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558431"/>
            <a:ext cx="8520600" cy="1539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Calibri"/>
              <a:buNone/>
            </a:pPr>
            <a:r>
              <a:rPr lang="en"/>
              <a:t>Recap : Test 2 concept overview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125594"/>
            <a:ext cx="8520600" cy="59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1242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77777"/>
              <a:buChar char="●"/>
            </a:pPr>
            <a:r>
              <a:rPr lang="en"/>
              <a:t>Data Models</a:t>
            </a:r>
            <a:endParaRPr/>
          </a:p>
          <a:p>
            <a:pPr indent="-25908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00000"/>
              <a:buChar char="○"/>
            </a:pPr>
            <a:r>
              <a:rPr lang="en"/>
              <a:t>Four Building Blocks</a:t>
            </a:r>
            <a:endParaRPr/>
          </a:p>
          <a:p>
            <a:pPr indent="-25908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00000"/>
              <a:buChar char="○"/>
            </a:pPr>
            <a:r>
              <a:rPr lang="en"/>
              <a:t>Entities, Attributes, Relationships, Constraints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77777"/>
              <a:buChar char="●"/>
            </a:pPr>
            <a:r>
              <a:rPr lang="en"/>
              <a:t>Business Rules</a:t>
            </a:r>
            <a:endParaRPr/>
          </a:p>
          <a:p>
            <a:pPr indent="-25908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00000"/>
              <a:buChar char="○"/>
            </a:pPr>
            <a:r>
              <a:rPr lang="en"/>
              <a:t>Brief, precise, and unambiguous descriptions of policies, procedures, or principles within a specific organization</a:t>
            </a:r>
            <a:endParaRPr/>
          </a:p>
          <a:p>
            <a:pPr indent="-25908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00000"/>
              <a:buChar char="○"/>
            </a:pPr>
            <a:r>
              <a:rPr lang="en"/>
              <a:t>Helps identify the four building blocks</a:t>
            </a:r>
            <a:endParaRPr/>
          </a:p>
          <a:p>
            <a:pPr indent="-259080" lvl="1" marL="742950" rtl="0" algn="l">
              <a:spcBef>
                <a:spcPts val="560"/>
              </a:spcBef>
              <a:spcAft>
                <a:spcPts val="1200"/>
              </a:spcAft>
              <a:buClr>
                <a:schemeClr val="dk1"/>
              </a:buClr>
              <a:buSzPct val="200000"/>
              <a:buChar char="○"/>
            </a:pPr>
            <a:r>
              <a:rPr lang="en"/>
              <a:t>Good /Bad Business Rules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"/>
              <a:t>Degrees of Abstraction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"/>
              <a:t>External 🡪 Conceptual 🡪 Logical 🡪 Physical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"/>
              <a:t>Relational Model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"/>
              <a:t>ER Model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</a:pPr>
            <a:r>
              <a:rPr lang="en"/>
              <a:t>Crow’s Foot only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"/>
              <a:t>Data Dictionary (System Catalog) </a:t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120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9718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77777"/>
              <a:buChar char="●"/>
            </a:pPr>
            <a:r>
              <a:rPr lang="en"/>
              <a:t>Relationships</a:t>
            </a:r>
            <a:endParaRPr/>
          </a:p>
          <a:p>
            <a:pPr indent="-245744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00000"/>
              <a:buChar char="○"/>
            </a:pPr>
            <a:r>
              <a:rPr lang="en"/>
              <a:t>Cardinality, Connectivity</a:t>
            </a:r>
            <a:endParaRPr/>
          </a:p>
          <a:p>
            <a:pPr indent="-19431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71428"/>
              <a:buChar char="■"/>
            </a:pPr>
            <a:r>
              <a:rPr lang="en"/>
              <a:t>1:1, 1:M, M:N</a:t>
            </a:r>
            <a:endParaRPr/>
          </a:p>
          <a:p>
            <a:pPr indent="-245744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00000"/>
              <a:buChar char="○"/>
            </a:pPr>
            <a:r>
              <a:rPr lang="en"/>
              <a:t>Degree </a:t>
            </a:r>
            <a:endParaRPr/>
          </a:p>
          <a:p>
            <a:pPr indent="-200025" lvl="3" marL="1600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42857"/>
              <a:buChar char="●"/>
            </a:pPr>
            <a:r>
              <a:rPr lang="en"/>
              <a:t>Unary(Reflexive), Binary, Ternary</a:t>
            </a:r>
            <a:endParaRPr/>
          </a:p>
          <a:p>
            <a:pPr indent="-200025" lvl="3" marL="1600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42857"/>
              <a:buChar char="●"/>
            </a:pPr>
            <a:r>
              <a:rPr lang="en"/>
              <a:t>How do we implement these? </a:t>
            </a:r>
            <a:endParaRPr/>
          </a:p>
          <a:p>
            <a:pPr indent="-245744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00000"/>
              <a:buChar char="○"/>
            </a:pPr>
            <a:r>
              <a:rPr lang="en"/>
              <a:t>Identifying /Non-Identifying</a:t>
            </a:r>
            <a:endParaRPr/>
          </a:p>
          <a:p>
            <a:pPr indent="-245744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00000"/>
              <a:buChar char="○"/>
            </a:pPr>
            <a:r>
              <a:rPr lang="en"/>
              <a:t>Participation : Optional/Mandatory</a:t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000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ct val="177777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"/>
              <a:t>Entities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"/>
              <a:t>Strong  (Existence Independent)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"/>
              <a:t>Weak (Existence dependent)</a:t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120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"/>
              <a:t>Attributes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"/>
              <a:t>Composite, Multi-Valued , Derived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"/>
              <a:t>Identifiers: PK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</a:pPr>
            <a:r>
              <a:rPr lang="en"/>
              <a:t>Composite PK’s</a:t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120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Normalization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9718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77777"/>
              <a:buChar char="●"/>
            </a:pPr>
            <a:r>
              <a:rPr lang="en"/>
              <a:t>Why? Isn’t an ER model enough?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77777"/>
              <a:buChar char="●"/>
            </a:pPr>
            <a:r>
              <a:rPr lang="en"/>
              <a:t>Three normal forms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77777"/>
              <a:buChar char="●"/>
            </a:pPr>
            <a:r>
              <a:rPr lang="en"/>
              <a:t>Dependency diagrams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77777"/>
              <a:buChar char="●"/>
            </a:pPr>
            <a:r>
              <a:rPr lang="en"/>
              <a:t>Conversion to 3NF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77777"/>
              <a:buChar char="●"/>
            </a:pPr>
            <a:r>
              <a:rPr lang="en"/>
              <a:t>Identification of the normal form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77777"/>
              <a:buChar char="●"/>
            </a:pPr>
            <a:r>
              <a:rPr lang="en"/>
              <a:t>Identification of PK/FK 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77777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ct val="177777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API - Review slides 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BI/DataWarehouses/OLAPvsOLTP - Review slides 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NoSQL- Review Reading/slides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Guide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77777"/>
              <a:buChar char="●"/>
            </a:pPr>
            <a:r>
              <a:rPr lang="en"/>
              <a:t>Look at topic coverage and slides after the midterm.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77777"/>
              <a:buChar char="●"/>
            </a:pPr>
            <a:r>
              <a:rPr lang="en"/>
              <a:t>Using the slides as a guide, read the relevant sections in the book.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77777"/>
              <a:buChar char="●"/>
            </a:pPr>
            <a:r>
              <a:rPr lang="en"/>
              <a:t>For each section covered in the slides, look at Review Questions at the back of the book.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77777"/>
              <a:buChar char="●"/>
            </a:pPr>
            <a:r>
              <a:rPr lang="en"/>
              <a:t>At the end of each set of slides, there is an indication of what I will test you on.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1200"/>
              </a:spcAft>
              <a:buClr>
                <a:schemeClr val="dk1"/>
              </a:buClr>
              <a:buSzPct val="177777"/>
              <a:buChar char="●"/>
            </a:pPr>
            <a:r>
              <a:rPr lang="en"/>
              <a:t>A list of practice problems/partial solutions is on the class website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Points Breakdown - 114 points total</a:t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/>
              <a:t>Multiple Choice/</a:t>
            </a:r>
            <a:r>
              <a:rPr lang="en"/>
              <a:t>True False</a:t>
            </a:r>
            <a:r>
              <a:rPr lang="en"/>
              <a:t> questions - 26 questions/3 or 4 points each = 88 pts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Short answer questions - 26 points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Normalization - 10 points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Drawing ER Models from rules/requirements- 12 points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ER Model conceptual question - 4 points  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Things to bring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/>
              <a:t>One page, a4 sheet(normal printer paper size), double sided, hand written notes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Pencil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Eraser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Pen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